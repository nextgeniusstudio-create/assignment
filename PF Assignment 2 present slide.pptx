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1200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course and the topic of the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program helps a student register subjects and checks the credit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columns left to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repeats once per subject: read credit hours, add to total, increase counter.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Decision: total credits &lt;= max credit. Yes -&gt; fee + Successful. No -&gt; Unsuccessful, no fee.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main() only calls processRegistration(). Each function does one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input function returns an empty string or -1 on invalid input, and the process stops.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 loop is the same idea as the WHILE loop in the flowchart: repeat numSubject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fee is calculated and displayed only when the registration is successful.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10 is below the limit of 12, so the fee is calculated.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12 = maximum 12 and still succeeds. This proves the program uses &lt;= and not &lt;.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14 is above 12, so registration fails and no fee is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program meets all requirements and passed all three test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3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Course Registration System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Fundamentals – Assignment 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79" y="3291840"/>
            <a:ext cx="574290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dirty="0">
                <a:solidFill>
                  <a:schemeClr val="bg1"/>
                </a:solidFill>
              </a:rPr>
              <a:t>MOHAMAD IBRAHIM BIN MOHD AKIF A26WD0354 (Leader)</a:t>
            </a:r>
          </a:p>
          <a:p>
            <a:r>
              <a:rPr lang="en-GB" dirty="0">
                <a:solidFill>
                  <a:schemeClr val="bg1"/>
                </a:solidFill>
              </a:rPr>
              <a:t>FANG SZE WEI A26DW0281</a:t>
            </a:r>
          </a:p>
          <a:p>
            <a:r>
              <a:rPr lang="en-GB" dirty="0">
                <a:solidFill>
                  <a:schemeClr val="bg1"/>
                </a:solidFill>
              </a:rPr>
              <a:t>NURHADHINA BINTI MD.HAFEZ A26DW2271</a:t>
            </a:r>
          </a:p>
          <a:p>
            <a:r>
              <a:rPr lang="en-GB" dirty="0">
                <a:solidFill>
                  <a:schemeClr val="bg1"/>
                </a:solidFill>
              </a:rPr>
              <a:t>LIM ZHONG JUN A26DW2518</a:t>
            </a:r>
          </a:p>
          <a:p>
            <a:r>
              <a:rPr lang="en-GB" dirty="0">
                <a:solidFill>
                  <a:schemeClr val="bg1"/>
                </a:solidFill>
              </a:rPr>
              <a:t>NURUL NAZLYANA BINTI KAMARUZAMAN A26DW0280</a:t>
            </a:r>
          </a:p>
        </p:txBody>
      </p:sp>
      <p:sp>
        <p:nvSpPr>
          <p:cNvPr id="5" name="Shape 3"/>
          <p:cNvSpPr/>
          <p:nvPr/>
        </p:nvSpPr>
        <p:spPr>
          <a:xfrm>
            <a:off x="6949440" y="3017520"/>
            <a:ext cx="1554480" cy="1554480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6949440" y="301752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C++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Description &amp; Objective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reads a student’s details and the credit hours of each subject, calculates the total tuition fee, and checks whether the total credit hours exceed the maximum permitted.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237744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685800" y="2606040"/>
            <a:ext cx="502920" cy="502920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 txBox="1"/>
          <p:nvPr/>
        </p:nvSpPr>
        <p:spPr>
          <a:xfrm>
            <a:off x="6858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credit hours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6118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up the credit hours of every subject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64408" y="237744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3493008" y="2606040"/>
            <a:ext cx="502920" cy="502920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 txBox="1"/>
          <p:nvPr/>
        </p:nvSpPr>
        <p:spPr>
          <a:xfrm>
            <a:off x="349300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493008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limit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493008" y="36118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total ≤ maximum permitted?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071616" y="237744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6300216" y="2606040"/>
            <a:ext cx="502920" cy="502920"/>
          </a:xfrm>
          <a:prstGeom prst="ellipse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 txBox="1"/>
          <p:nvPr/>
        </p:nvSpPr>
        <p:spPr>
          <a:xfrm>
            <a:off x="6300216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300216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fee + status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300216" y="36118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shown only if registration is successful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/ Process / Output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606040" cy="502920"/>
          </a:xfrm>
          <a:prstGeom prst="rect">
            <a:avLst/>
          </a:prstGeom>
          <a:solidFill>
            <a:srgbClr val="2E6B5E"/>
          </a:solidFill>
          <a:ln w="12700">
            <a:solidFill>
              <a:srgbClr val="2E6B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2606040" cy="2926080"/>
          </a:xfrm>
          <a:prstGeom prst="rect">
            <a:avLst/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 txBox="1"/>
          <p:nvPr/>
        </p:nvSpPr>
        <p:spPr>
          <a:xfrm>
            <a:off x="594360" y="1737360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subjects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hours of each subject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per credit hour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permitted credit hours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64408" y="1097280"/>
            <a:ext cx="2606040" cy="50292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 txBox="1"/>
          <p:nvPr/>
        </p:nvSpPr>
        <p:spPr>
          <a:xfrm>
            <a:off x="3264408" y="1097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264408" y="1600200"/>
            <a:ext cx="2606040" cy="2926080"/>
          </a:xfrm>
          <a:prstGeom prst="rect">
            <a:avLst/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 txBox="1"/>
          <p:nvPr/>
        </p:nvSpPr>
        <p:spPr>
          <a:xfrm>
            <a:off x="3401568" y="1737360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up credit hours of all subjects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totalCreditHours &lt;= maxCreditHours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valid: total fee = total credit hours × fee per credit hour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71616" y="1097280"/>
            <a:ext cx="2606040" cy="502920"/>
          </a:xfrm>
          <a:prstGeom prst="rect">
            <a:avLst/>
          </a:prstGeom>
          <a:solidFill>
            <a:srgbClr val="17302B"/>
          </a:solidFill>
          <a:ln w="12700">
            <a:solidFill>
              <a:srgbClr val="1730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 txBox="1"/>
          <p:nvPr/>
        </p:nvSpPr>
        <p:spPr>
          <a:xfrm>
            <a:off x="6071616" y="1097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071616" y="1600200"/>
            <a:ext cx="2606040" cy="2926080"/>
          </a:xfrm>
          <a:prstGeom prst="rect">
            <a:avLst/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 txBox="1"/>
          <p:nvPr/>
        </p:nvSpPr>
        <p:spPr>
          <a:xfrm>
            <a:off x="6208776" y="1737360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Successful: ID, name, subjects, total credit hours, total tuition fee, status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Unsuccessful: same details, no fee, status "Unsuccessful"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Flowchart (1/2): Input and Credit Loop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6080760" y="1097280"/>
            <a:ext cx="2606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→ read ID, name, number of subjects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totalCredits = 0, counter = 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while counter &lt;= numSubjects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pass: read credit hours, add to total, counter + 1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loop ends: read fee rate and max credit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773C91-C870-35BC-9325-1966AA9E4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06" y="914400"/>
            <a:ext cx="5067437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Flowchart (2/2): Decision and Two Branches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457200" y="3429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3F1E8"/>
          </a:solidFill>
          <a:ln w="12700">
            <a:solidFill>
              <a:srgbClr val="E3F1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2"/>
          <p:cNvSpPr txBox="1"/>
          <p:nvPr/>
        </p:nvSpPr>
        <p:spPr>
          <a:xfrm>
            <a:off x="594360" y="34747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(total ≤ max)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fee, status = Successful, display everything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4663440" y="3429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7E4E0"/>
          </a:solidFill>
          <a:ln w="12700">
            <a:solidFill>
              <a:srgbClr val="F7E4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 txBox="1"/>
          <p:nvPr/>
        </p:nvSpPr>
        <p:spPr>
          <a:xfrm>
            <a:off x="4800600" y="34747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(total &gt; max)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Unsuccessful, no fee displayed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D76196-BDE1-E5F1-4236-6CBFD6A3E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166191"/>
            <a:ext cx="4142535" cy="2153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Structure: 9 Functions + main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17302B"/>
          </a:solidFill>
          <a:ln w="12700">
            <a:solidFill>
              <a:srgbClr val="1730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 txBox="1"/>
          <p:nvPr/>
        </p:nvSpPr>
        <p:spPr>
          <a:xfrm>
            <a:off x="59436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A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processRegistration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72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whole flow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64408" y="10972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 txBox="1"/>
          <p:nvPr/>
        </p:nvSpPr>
        <p:spPr>
          <a:xfrm>
            <a:off x="3401568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inputStudentId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401568" y="1572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check ID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71616" y="10972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 txBox="1"/>
          <p:nvPr/>
        </p:nvSpPr>
        <p:spPr>
          <a:xfrm>
            <a:off x="6208776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inputStudentName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208776" y="1572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check name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1945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 txBox="1"/>
          <p:nvPr/>
        </p:nvSpPr>
        <p:spPr>
          <a:xfrm>
            <a:off x="59436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inputNumberOfSubjects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2670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number of subjects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264408" y="21945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 txBox="1"/>
          <p:nvPr/>
        </p:nvSpPr>
        <p:spPr>
          <a:xfrm>
            <a:off x="3401568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inputCreditHours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401568" y="2670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credit hours of one subject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071616" y="21945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 txBox="1"/>
          <p:nvPr/>
        </p:nvSpPr>
        <p:spPr>
          <a:xfrm>
            <a:off x="6208776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inputFeePerCreditHour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208776" y="2670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fee per credit hour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32918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 txBox="1"/>
          <p:nvPr/>
        </p:nvSpPr>
        <p:spPr>
          <a:xfrm>
            <a:off x="59436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inputMaxCreditHours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94360" y="3767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maximum credit hours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3264408" y="32918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 txBox="1"/>
          <p:nvPr/>
        </p:nvSpPr>
        <p:spPr>
          <a:xfrm>
            <a:off x="3401568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calculateTotalFee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3401568" y="3767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credits × fee rate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071616" y="32918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 txBox="1"/>
          <p:nvPr/>
        </p:nvSpPr>
        <p:spPr>
          <a:xfrm>
            <a:off x="6208776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displayError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208776" y="3767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an error message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 { return processRegistration(); }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processRegistration() – Overall Flow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5029200" cy="3429000"/>
          </a:xfrm>
          <a:prstGeom prst="roundRect">
            <a:avLst>
              <a:gd name="adj" fmla="val 2133"/>
            </a:avLst>
          </a:prstGeom>
          <a:solidFill>
            <a:srgbClr val="1B2422"/>
          </a:solidFill>
          <a:ln w="12700">
            <a:solidFill>
              <a:srgbClr val="1B24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 txBox="1"/>
          <p:nvPr/>
        </p:nvSpPr>
        <p:spPr>
          <a:xfrm>
            <a:off x="594360" y="114300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studentId = inputStudentId("");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(studentId.empty()) { return 0; 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studentName = inputStudentName("");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(studentName.empty()) { return 0; 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numSubject = inputNumberOfSubjects(0);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(numSubject &lt; 0) { return 0; 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loop, fee rate, max credit ... (next slide)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(totalCreditHours &lt;= maxCreditHours)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Successful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Unsuccessful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109728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7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ID, name and number of subjects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input: show error and stop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(if / else) decides Successful or Unsuccessful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Credit Hours Loop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1B2422"/>
          </a:solidFill>
          <a:ln w="12700">
            <a:solidFill>
              <a:srgbClr val="1B24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 txBox="1"/>
          <p:nvPr/>
        </p:nvSpPr>
        <p:spPr>
          <a:xfrm>
            <a:off x="594360" y="1143000"/>
            <a:ext cx="7955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totalCreditHours = 0;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creditHours;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numSubject; ++i)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creditHours = inputCreditHours(i + 1);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(creditHours &lt; 0) { return 0;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totalCreditHours += creditHours;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310896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 txBox="1"/>
          <p:nvPr/>
        </p:nvSpPr>
        <p:spPr>
          <a:xfrm>
            <a:off x="548640" y="3154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totalCreditHours = 0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611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Flowchart: SET TOTAL_CREDITS = 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32888" y="310896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 txBox="1"/>
          <p:nvPr/>
        </p:nvSpPr>
        <p:spPr>
          <a:xfrm>
            <a:off x="2624328" y="3154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 numSubject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2624328" y="3611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Flowchart: COUNTER &lt;= NUM_SUBJECTS 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08576" y="310896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 txBox="1"/>
          <p:nvPr/>
        </p:nvSpPr>
        <p:spPr>
          <a:xfrm>
            <a:off x="4700016" y="3154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inputCreditHours(i + 1)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700016" y="3611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Flowchart: READ CREDIT_HOURS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684264" y="310896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 txBox="1"/>
          <p:nvPr/>
        </p:nvSpPr>
        <p:spPr>
          <a:xfrm>
            <a:off x="6775704" y="3154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totalCreditHours += creditHours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775704" y="3611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Flowchart: TOTAL_CREDITS + CREDIT_HOURS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runs once for each subject, so the program works for any number of subjects.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calculateTotalFee and Output Branches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4572000" cy="1005840"/>
          </a:xfrm>
          <a:prstGeom prst="roundRect">
            <a:avLst>
              <a:gd name="adj" fmla="val 7273"/>
            </a:avLst>
          </a:prstGeom>
          <a:solidFill>
            <a:srgbClr val="1B2422"/>
          </a:solidFill>
          <a:ln w="12700">
            <a:solidFill>
              <a:srgbClr val="1B24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 txBox="1"/>
          <p:nvPr/>
        </p:nvSpPr>
        <p:spPr>
          <a:xfrm>
            <a:off x="594360" y="11430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calculateTotalFee(int totalCreditHours,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feePerCreditHour)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totalCreditHours * feePerCreditHour;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2194560"/>
            <a:ext cx="4572000" cy="2240280"/>
          </a:xfrm>
          <a:prstGeom prst="roundRect">
            <a:avLst>
              <a:gd name="adj" fmla="val 3265"/>
            </a:avLst>
          </a:prstGeom>
          <a:solidFill>
            <a:srgbClr val="1B2422"/>
          </a:solidFill>
          <a:ln w="12700">
            <a:solidFill>
              <a:srgbClr val="1B24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 txBox="1"/>
          <p:nvPr/>
        </p:nvSpPr>
        <p:spPr>
          <a:xfrm>
            <a:off x="594360" y="2286000"/>
            <a:ext cx="4297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(totalCreditHours &lt;= maxCreditHours)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totalFee = calculateTotalFee(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totalCreditHours, feePerCreditHour);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show details + fee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Status: Successful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show details (no fee)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Status: Unsuccessful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303520" y="105156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E3F1E8"/>
          </a:solidFill>
          <a:ln w="12700">
            <a:solidFill>
              <a:srgbClr val="E3F1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 txBox="1"/>
          <p:nvPr/>
        </p:nvSpPr>
        <p:spPr>
          <a:xfrm>
            <a:off x="5440680" y="114300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branch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name, ID, number of subjects, total credit hours, total tuition fee, status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303520" y="283464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7E4E0"/>
          </a:solidFill>
          <a:ln w="12700">
            <a:solidFill>
              <a:srgbClr val="F7E4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 txBox="1"/>
          <p:nvPr/>
        </p:nvSpPr>
        <p:spPr>
          <a:xfrm>
            <a:off x="5440680" y="292608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Unsuccessful branch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details but no tuition fee, status shows Unsuccessful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 1: Normal Registration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3840480" cy="3383280"/>
          </a:xfrm>
          <a:prstGeom prst="roundRect">
            <a:avLst>
              <a:gd name="adj" fmla="val 2162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 txBox="1"/>
          <p:nvPr/>
        </p:nvSpPr>
        <p:spPr>
          <a:xfrm>
            <a:off x="640080" y="1143000"/>
            <a:ext cx="3520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&amp; name: S101, Alex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Subjects: 3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hours: 3, 3, 4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per credit hour: RM 100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credit hours: 12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credit hours: 10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tuition fee: RM 1000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Successful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output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223760" y="102412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 txBox="1"/>
          <p:nvPr/>
        </p:nvSpPr>
        <p:spPr>
          <a:xfrm>
            <a:off x="7223760" y="102412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0" y="1417320"/>
            <a:ext cx="4114800" cy="2148840"/>
          </a:xfrm>
          <a:prstGeom prst="roundRect">
            <a:avLst>
              <a:gd name="adj" fmla="val 3404"/>
            </a:avLst>
          </a:prstGeom>
          <a:solidFill>
            <a:srgbClr val="1B2422"/>
          </a:solidFill>
          <a:ln w="12700">
            <a:solidFill>
              <a:srgbClr val="1B24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 txBox="1"/>
          <p:nvPr/>
        </p:nvSpPr>
        <p:spPr>
          <a:xfrm>
            <a:off x="4709160" y="150876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Name: Alex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ID: S101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of Subjects: 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Credit Hours: 10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tuition fee: RM 1000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Registration Status: Successful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37033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10 is below the limit of 12, so the fee is calculated.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 2: Boundary (Exactly at Limit)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3840480" cy="3383280"/>
          </a:xfrm>
          <a:prstGeom prst="roundRect">
            <a:avLst>
              <a:gd name="adj" fmla="val 2162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 txBox="1"/>
          <p:nvPr/>
        </p:nvSpPr>
        <p:spPr>
          <a:xfrm>
            <a:off x="640080" y="1143000"/>
            <a:ext cx="3520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&amp; name: S102, Bella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Subjects: 4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hours: 3, 3, 3, 3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per credit hour: RM 150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credit hours: 12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credit hours: 12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tuition fee: RM 1800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Successful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output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223760" y="102412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 txBox="1"/>
          <p:nvPr/>
        </p:nvSpPr>
        <p:spPr>
          <a:xfrm>
            <a:off x="7223760" y="102412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0" y="1417320"/>
            <a:ext cx="4114800" cy="2148840"/>
          </a:xfrm>
          <a:prstGeom prst="roundRect">
            <a:avLst>
              <a:gd name="adj" fmla="val 3404"/>
            </a:avLst>
          </a:prstGeom>
          <a:solidFill>
            <a:srgbClr val="1B2422"/>
          </a:solidFill>
          <a:ln w="12700">
            <a:solidFill>
              <a:srgbClr val="1B24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 txBox="1"/>
          <p:nvPr/>
        </p:nvSpPr>
        <p:spPr>
          <a:xfrm>
            <a:off x="4709160" y="150876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Name: Bella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ID: S102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of Subjects: 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Credit Hours: 12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tuition fee: RM 1800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Registration Status: Successful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37033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12 = maximum 12 and still succeeds. This proves the program uses &lt;= and not &lt;.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 3: Exceeded Limit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3840480" cy="3383280"/>
          </a:xfrm>
          <a:prstGeom prst="roundRect">
            <a:avLst>
              <a:gd name="adj" fmla="val 2162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 txBox="1"/>
          <p:nvPr/>
        </p:nvSpPr>
        <p:spPr>
          <a:xfrm>
            <a:off x="640080" y="1143000"/>
            <a:ext cx="3520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&amp; name: S103, Charlie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Subjects: 4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hours: 4, 4, 3, 3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per credit hour: RM 100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credit hours: 12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credit hours: 14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Unsuccessful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fee: not displayed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output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223760" y="102412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 txBox="1"/>
          <p:nvPr/>
        </p:nvSpPr>
        <p:spPr>
          <a:xfrm>
            <a:off x="7223760" y="102412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0" y="1417320"/>
            <a:ext cx="4114800" cy="2148840"/>
          </a:xfrm>
          <a:prstGeom prst="roundRect">
            <a:avLst>
              <a:gd name="adj" fmla="val 3404"/>
            </a:avLst>
          </a:prstGeom>
          <a:solidFill>
            <a:srgbClr val="1B2422"/>
          </a:solidFill>
          <a:ln w="12700">
            <a:solidFill>
              <a:srgbClr val="1B24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 txBox="1"/>
          <p:nvPr/>
        </p:nvSpPr>
        <p:spPr>
          <a:xfrm>
            <a:off x="4709160" y="150876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Name: Charlie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ID: S103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of Subjects: 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Credit Hours: 14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Registration Status: Unsuccessful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37033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14 is above 12, so registration fails and no fee is shown.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reads student details, totals the credit hours, checks the credit limit and shows the tuition fee only for a valid registration.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20116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 txBox="1"/>
          <p:nvPr/>
        </p:nvSpPr>
        <p:spPr>
          <a:xfrm>
            <a:off x="64008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871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program into small parts, each with one job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20116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 txBox="1"/>
          <p:nvPr/>
        </p:nvSpPr>
        <p:spPr>
          <a:xfrm>
            <a:off x="484632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24871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 adds up credit hours for every subject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2004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 txBox="1"/>
          <p:nvPr/>
        </p:nvSpPr>
        <p:spPr>
          <a:xfrm>
            <a:off x="64008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6758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decides Successful or Unsuccessful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63440" y="32004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 txBox="1"/>
          <p:nvPr/>
        </p:nvSpPr>
        <p:spPr>
          <a:xfrm>
            <a:off x="484632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36758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boundary and failure cases all passed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389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learned: planning with a flowchart first makes the code easier to write and to test.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1304</Words>
  <Application>Microsoft Office PowerPoint</Application>
  <PresentationFormat>On-screen Show (16:9)</PresentationFormat>
  <Paragraphs>241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Course Registration System</dc:title>
  <dc:subject>PptxGenJS Presentation</dc:subject>
  <dc:creator>PptxGenJS</dc:creator>
  <cp:lastModifiedBy>Shane Lim</cp:lastModifiedBy>
  <cp:revision>3</cp:revision>
  <dcterms:created xsi:type="dcterms:W3CDTF">2026-10-07T14:03:54Z</dcterms:created>
  <dcterms:modified xsi:type="dcterms:W3CDTF">2026-10-08T17:30:06Z</dcterms:modified>
</cp:coreProperties>
</file>